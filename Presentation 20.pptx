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9"/>
  </p:notesMasterIdLst>
  <p:handoutMasterIdLst>
    <p:handoutMasterId r:id="rId20"/>
  </p:handoutMasterIdLst>
  <p:sldIdLst>
    <p:sldId id="314" r:id="rId5"/>
    <p:sldId id="330" r:id="rId6"/>
    <p:sldId id="326" r:id="rId7"/>
    <p:sldId id="319" r:id="rId8"/>
    <p:sldId id="327" r:id="rId9"/>
    <p:sldId id="318" r:id="rId10"/>
    <p:sldId id="316" r:id="rId11"/>
    <p:sldId id="320" r:id="rId12"/>
    <p:sldId id="321" r:id="rId13"/>
    <p:sldId id="324" r:id="rId14"/>
    <p:sldId id="332" r:id="rId15"/>
    <p:sldId id="331" r:id="rId16"/>
    <p:sldId id="322" r:id="rId17"/>
    <p:sldId id="30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0B5CDE-F521-865A-95EF-97F29126425F}" v="106" dt="2026-03-26T00:51:45.8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5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821" y="53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86399" cy="863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hepo Mngomezulu" userId="S::2740751@students.wits.ac.za::e064d25c-65b0-4c72-bff9-726608e2412a" providerId="AD" clId="Web-{820B5CDE-F521-865A-95EF-97F29126425F}"/>
    <pc:docChg chg="modSld">
      <pc:chgData name="Tshepo Mngomezulu" userId="S::2740751@students.wits.ac.za::e064d25c-65b0-4c72-bff9-726608e2412a" providerId="AD" clId="Web-{820B5CDE-F521-865A-95EF-97F29126425F}" dt="2026-03-26T00:51:45.826" v="79" actId="20577"/>
      <pc:docMkLst>
        <pc:docMk/>
      </pc:docMkLst>
      <pc:sldChg chg="addSp modSp">
        <pc:chgData name="Tshepo Mngomezulu" userId="S::2740751@students.wits.ac.za::e064d25c-65b0-4c72-bff9-726608e2412a" providerId="AD" clId="Web-{820B5CDE-F521-865A-95EF-97F29126425F}" dt="2026-03-26T00:51:31.459" v="78" actId="20577"/>
        <pc:sldMkLst>
          <pc:docMk/>
          <pc:sldMk cId="2945390068" sldId="314"/>
        </pc:sldMkLst>
        <pc:spChg chg="mod">
          <ac:chgData name="Tshepo Mngomezulu" userId="S::2740751@students.wits.ac.za::e064d25c-65b0-4c72-bff9-726608e2412a" providerId="AD" clId="Web-{820B5CDE-F521-865A-95EF-97F29126425F}" dt="2026-03-26T00:51:31.459" v="78" actId="20577"/>
          <ac:spMkLst>
            <pc:docMk/>
            <pc:sldMk cId="2945390068" sldId="314"/>
            <ac:spMk id="2" creationId="{35440D96-BFFB-05BD-30ED-0352500CD058}"/>
          </ac:spMkLst>
        </pc:spChg>
        <pc:spChg chg="add mod">
          <ac:chgData name="Tshepo Mngomezulu" userId="S::2740751@students.wits.ac.za::e064d25c-65b0-4c72-bff9-726608e2412a" providerId="AD" clId="Web-{820B5CDE-F521-865A-95EF-97F29126425F}" dt="2026-03-26T00:50:23.421" v="73" actId="1076"/>
          <ac:spMkLst>
            <pc:docMk/>
            <pc:sldMk cId="2945390068" sldId="314"/>
            <ac:spMk id="3" creationId="{D5CC7199-E582-D104-8AC9-73AC6BFC6F28}"/>
          </ac:spMkLst>
        </pc:spChg>
      </pc:sldChg>
      <pc:sldChg chg="modSp">
        <pc:chgData name="Tshepo Mngomezulu" userId="S::2740751@students.wits.ac.za::e064d25c-65b0-4c72-bff9-726608e2412a" providerId="AD" clId="Web-{820B5CDE-F521-865A-95EF-97F29126425F}" dt="2026-03-26T00:51:45.826" v="79" actId="20577"/>
        <pc:sldMkLst>
          <pc:docMk/>
          <pc:sldMk cId="542059410" sldId="315"/>
        </pc:sldMkLst>
        <pc:spChg chg="mod">
          <ac:chgData name="Tshepo Mngomezulu" userId="S::2740751@students.wits.ac.za::e064d25c-65b0-4c72-bff9-726608e2412a" providerId="AD" clId="Web-{820B5CDE-F521-865A-95EF-97F29126425F}" dt="2026-03-26T00:51:45.826" v="79" actId="20577"/>
          <ac:spMkLst>
            <pc:docMk/>
            <pc:sldMk cId="542059410" sldId="315"/>
            <ac:spMk id="3" creationId="{3474D05E-8A36-8D9F-519E-DB514A69D886}"/>
          </ac:spMkLst>
        </pc:spChg>
      </pc:sldChg>
      <pc:sldChg chg="modSp">
        <pc:chgData name="Tshepo Mngomezulu" userId="S::2740751@students.wits.ac.za::e064d25c-65b0-4c72-bff9-726608e2412a" providerId="AD" clId="Web-{820B5CDE-F521-865A-95EF-97F29126425F}" dt="2026-03-26T00:33:55.505" v="0" actId="1076"/>
        <pc:sldMkLst>
          <pc:docMk/>
          <pc:sldMk cId="1517447069" sldId="322"/>
        </pc:sldMkLst>
        <pc:picChg chg="mod">
          <ac:chgData name="Tshepo Mngomezulu" userId="S::2740751@students.wits.ac.za::e064d25c-65b0-4c72-bff9-726608e2412a" providerId="AD" clId="Web-{820B5CDE-F521-865A-95EF-97F29126425F}" dt="2026-03-26T00:33:55.505" v="0" actId="1076"/>
          <ac:picMkLst>
            <pc:docMk/>
            <pc:sldMk cId="1517447069" sldId="322"/>
            <ac:picMk id="18" creationId="{1609D79A-E8EF-302E-E8CA-07C644CE0E0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7D742-664A-2149-05CC-CCB92378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584E6-5FF2-83CF-BA4B-1D4088681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AB3CB-9460-D2C3-2E32-6E336492A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F7A52-9BD0-DBDE-4E9C-0CE70091C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457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274A-D2F7-192A-5453-DBC934A9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E4EB5-057D-EBA5-2C7B-BE1290564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F9950-A814-8DDC-F08A-E3D0BD87D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B683E-DA26-DA29-931E-68034D494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194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23450-89A2-F3FF-9A7C-56CA7DF2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1E839-2715-2BBA-609C-AD466CE93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23227-502B-551D-08D8-BF350200B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83471-67C0-61A8-E5B6-915AF3528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416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F3FD-0A30-F924-6DD1-C9F6528B2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11F02-A06E-BC9F-1BBC-97DC33A5A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37D0A-5E56-CF90-6AD5-371955BA9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F9B78-0E1B-C2DF-F843-BFE36C6CA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475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za/sites/default/files/gcis_document/202501/dha-annual-report2023-2024_0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The front slide must include your product name, and all your names and student numbers.&#10;(1 slide)">
            <a:extLst>
              <a:ext uri="{FF2B5EF4-FFF2-40B4-BE49-F238E27FC236}">
                <a16:creationId xmlns:a16="http://schemas.microsoft.com/office/drawing/2014/main" id="{35440D96-BFFB-05BD-30ED-0352500CD0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5373" y="2461620"/>
            <a:ext cx="5988570" cy="2558143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en-US" dirty="0" err="1">
                <a:latin typeface="Lucida Bright"/>
              </a:rPr>
              <a:t>Queuesmart</a:t>
            </a:r>
            <a:r>
              <a:rPr lang="en-US" dirty="0">
                <a:latin typeface="Lucida Bright"/>
              </a:rPr>
              <a:t> ha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C7199-E582-D104-8AC9-73AC6BFC6F28}"/>
              </a:ext>
            </a:extLst>
          </p:cNvPr>
          <p:cNvSpPr txBox="1"/>
          <p:nvPr/>
        </p:nvSpPr>
        <p:spPr>
          <a:xfrm>
            <a:off x="6226628" y="4419599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cap="all" dirty="0" err="1">
                <a:solidFill>
                  <a:srgbClr val="FFFFFF"/>
                </a:solidFill>
                <a:latin typeface="Lucida Bright"/>
              </a:rPr>
              <a:t>Bohlale</a:t>
            </a:r>
            <a:r>
              <a:rPr lang="en-US" cap="all" dirty="0">
                <a:solidFill>
                  <a:srgbClr val="FFFFFF"/>
                </a:solidFill>
                <a:latin typeface="Lucida Bright"/>
              </a:rPr>
              <a:t> </a:t>
            </a:r>
          </a:p>
          <a:p>
            <a:r>
              <a:rPr lang="en-US" cap="all" dirty="0">
                <a:solidFill>
                  <a:srgbClr val="FFFFFF"/>
                </a:solidFill>
                <a:latin typeface="Lucida Bright"/>
              </a:rPr>
              <a:t>Tshepo</a:t>
            </a:r>
          </a:p>
          <a:p>
            <a:r>
              <a:rPr lang="en-US" cap="all" dirty="0">
                <a:solidFill>
                  <a:srgbClr val="FFFFFF"/>
                </a:solidFill>
                <a:latin typeface="Lucida Bright"/>
              </a:rPr>
              <a:t>Simphiwe </a:t>
            </a:r>
          </a:p>
          <a:p>
            <a:endParaRPr lang="en-US" cap="all" dirty="0">
              <a:solidFill>
                <a:srgbClr val="FFFFFF"/>
              </a:solidFill>
              <a:latin typeface="Lucida Bright"/>
            </a:endParaRPr>
          </a:p>
          <a:p>
            <a:endParaRPr lang="en-US" cap="all" dirty="0">
              <a:solidFill>
                <a:srgbClr val="FFFFFF"/>
              </a:solidFill>
              <a:latin typeface="Lucida Bright"/>
            </a:endParaRPr>
          </a:p>
          <a:p>
            <a:r>
              <a:rPr lang="en-US" cap="all" dirty="0">
                <a:solidFill>
                  <a:srgbClr val="FFFFFF"/>
                </a:solidFill>
                <a:latin typeface="Lucida Bright"/>
              </a:rPr>
              <a:t>(will come back to this page!!)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BDF2-A947-29C1-CB70-7FAC2C98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C84B2E45-9485-7F94-A0FA-FB66CE14F9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776" t="-267" r="10103" b="-1342"/>
          <a:stretch>
            <a:fillRect/>
          </a:stretch>
        </p:blipFill>
        <p:spPr>
          <a:xfrm>
            <a:off x="6287468" y="0"/>
            <a:ext cx="5904532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BD6136-0CDB-5853-95E0-30F0A4AF2961}"/>
              </a:ext>
            </a:extLst>
          </p:cNvPr>
          <p:cNvSpPr txBox="1">
            <a:spLocks/>
          </p:cNvSpPr>
          <p:nvPr/>
        </p:nvSpPr>
        <p:spPr>
          <a:xfrm>
            <a:off x="1878564" y="1411626"/>
            <a:ext cx="5054899" cy="1602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The </a:t>
            </a:r>
            <a:r>
              <a:rPr lang="en-US" sz="4000" dirty="0">
                <a:latin typeface="+mn-lt"/>
              </a:rPr>
              <a:t>problem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 txBox="1">
            <a:spLocks/>
          </p:cNvSpPr>
          <p:nvPr/>
        </p:nvSpPr>
        <p:spPr>
          <a:xfrm>
            <a:off x="985521" y="3326134"/>
            <a:ext cx="5558118" cy="306607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ZA" sz="1800" dirty="0"/>
              <a:t>Citizens visiting the Department of Home Affairs for reasons such as: </a:t>
            </a:r>
            <a:r>
              <a:rPr lang="en-ZA" sz="1800" dirty="0" err="1"/>
              <a:t>SmartID</a:t>
            </a:r>
            <a:r>
              <a:rPr lang="en-ZA" sz="1800" dirty="0"/>
              <a:t> Application &amp; Collection, Visas &amp; Permits, Birth Registration, Marriage + Divorce Certificates etc… These citizens experience long and unpredictable waiting times due to slow queues and few workers. </a:t>
            </a:r>
          </a:p>
          <a:p>
            <a:pPr algn="l"/>
            <a:r>
              <a:rPr lang="en-ZA" sz="1800" dirty="0"/>
              <a:t> </a:t>
            </a:r>
          </a:p>
          <a:p>
            <a:pPr algn="l"/>
            <a:r>
              <a:rPr lang="en-ZA" sz="1800" dirty="0"/>
              <a:t>The problem is the inability to estimate waiting times accurately which leads to overcrowding, spending the whole day at Home Affairs, and immense frustration. </a:t>
            </a:r>
          </a:p>
          <a:p>
            <a:pPr algn="l"/>
            <a:r>
              <a:rPr lang="en-ZA" sz="1800" dirty="0"/>
              <a:t>Other facts include ongoing long queues due to network issues, load shedding,</a:t>
            </a:r>
          </a:p>
          <a:p>
            <a:pPr algn="l"/>
            <a:r>
              <a:rPr lang="en-ZA" sz="1800" dirty="0"/>
              <a:t>With citizens risking a day's work/money just to secure a vital document. The lack of real-time information leaves citizens powerless to plan their day effectively.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255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41E56-82CD-607C-03E2-C2DE2FC7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D64AB-51A6-9931-31DC-4AB747D074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9623" y="1255058"/>
            <a:ext cx="6490448" cy="2061883"/>
          </a:xfrm>
        </p:spPr>
        <p:txBody>
          <a:bodyPr>
            <a:normAutofit/>
          </a:bodyPr>
          <a:lstStyle/>
          <a:p>
            <a:r>
              <a:rPr lang="en-ZA" sz="1100" i="1" dirty="0"/>
              <a:t> "DHA serves ~4 million visits per year; average wait time exceeds 3  hours at major branches."</a:t>
            </a:r>
            <a:br>
              <a:rPr lang="en-ZA" sz="1100" i="1" dirty="0"/>
            </a:br>
            <a:r>
              <a:rPr lang="en-ZA" sz="1100" u="sng" dirty="0"/>
              <a:t>Source:</a:t>
            </a:r>
            <a:r>
              <a:rPr lang="en-ZA" sz="1100" dirty="0"/>
              <a:t> </a:t>
            </a:r>
            <a:r>
              <a:rPr lang="en-ZA" sz="1100" u="sng" dirty="0">
                <a:hlinkClick r:id="rId3"/>
              </a:rPr>
              <a:t>https://www.gov.za/sites/default/files/gcis_document/202501/dha-annual-report2023-2024_0.pdf</a:t>
            </a:r>
            <a:br>
              <a:rPr lang="en-ZA" sz="1100" dirty="0"/>
            </a:br>
            <a:br>
              <a:rPr lang="en-ZA" sz="1100" dirty="0"/>
            </a:br>
            <a:r>
              <a:rPr lang="en-ZA" sz="1100" u="sng" dirty="0"/>
              <a:t>Solution :</a:t>
            </a:r>
            <a:r>
              <a:rPr lang="en-ZA" sz="1100" dirty="0"/>
              <a:t> "</a:t>
            </a:r>
            <a:r>
              <a:rPr lang="en-ZA" sz="1100" dirty="0" err="1"/>
              <a:t>QueueSmart</a:t>
            </a:r>
            <a:r>
              <a:rPr lang="en-ZA" sz="1100" dirty="0"/>
              <a:t> HA uses machine learning to predict wait times at specific branches so citizens can plan their visits and avoid peak hours."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7AC5EA-4C3F-905D-64E5-C8CF2CC54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438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9129" y="-748083"/>
            <a:ext cx="4213412" cy="3624984"/>
          </a:xfrm>
        </p:spPr>
        <p:txBody>
          <a:bodyPr>
            <a:normAutofit/>
          </a:bodyPr>
          <a:lstStyle/>
          <a:p>
            <a:r>
              <a:rPr lang="en-US" sz="4400" dirty="0"/>
              <a:t>Product benefits</a:t>
            </a:r>
          </a:p>
        </p:txBody>
      </p:sp>
      <p:pic>
        <p:nvPicPr>
          <p:cNvPr id="5" name="Picture Placeholder 4" descr="A person standing in a greenhouse">
            <a:extLst>
              <a:ext uri="{FF2B5EF4-FFF2-40B4-BE49-F238E27FC236}">
                <a16:creationId xmlns:a16="http://schemas.microsoft.com/office/drawing/2014/main" id="{EE30546E-D63D-6DD8-4DA7-41DD51A44C2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2487" b="12487"/>
          <a:stretch/>
        </p:blipFill>
        <p:spPr>
          <a:xfrm>
            <a:off x="0" y="0"/>
            <a:ext cx="6096000" cy="6858000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E568EA-E26F-2D30-10C3-788A8EBE8CE5}"/>
              </a:ext>
            </a:extLst>
          </p:cNvPr>
          <p:cNvSpPr txBox="1">
            <a:spLocks/>
          </p:cNvSpPr>
          <p:nvPr/>
        </p:nvSpPr>
        <p:spPr>
          <a:xfrm>
            <a:off x="5809129" y="3040891"/>
            <a:ext cx="6095999" cy="302558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latin typeface="+mj-lt"/>
              </a:rPr>
              <a:t>Primary users:</a:t>
            </a:r>
          </a:p>
          <a:p>
            <a:pPr lvl="1"/>
            <a:r>
              <a:rPr lang="en-ZA" dirty="0"/>
              <a:t>South African citizens requiring ID, passport, birth certificate, or permit services — representing virtually the entire adult population at some point in their lives.</a:t>
            </a:r>
          </a:p>
          <a:p>
            <a:pPr lvl="1"/>
            <a:r>
              <a:rPr lang="en-ZA" dirty="0"/>
              <a:t>Working individuals and informal workers who cannot afford to lose a full day's income</a:t>
            </a:r>
          </a:p>
          <a:p>
            <a:pPr lvl="1"/>
            <a:r>
              <a:rPr lang="en-ZA" dirty="0"/>
              <a:t>Students who must be in class but require IDs for Varsity Applications.</a:t>
            </a:r>
          </a:p>
          <a:p>
            <a:pPr lvl="1"/>
            <a:r>
              <a:rPr lang="en-ZA" dirty="0"/>
              <a:t>Pensioners who can’t stand in long queues.</a:t>
            </a:r>
          </a:p>
          <a:p>
            <a:pPr lvl="1"/>
            <a:r>
              <a:rPr lang="en-ZA" dirty="0"/>
              <a:t>People with disabilities.</a:t>
            </a:r>
          </a:p>
          <a:p>
            <a:r>
              <a:rPr lang="en-ZA" b="1" dirty="0">
                <a:latin typeface="+mj-lt"/>
              </a:rPr>
              <a:t>Secondary users:</a:t>
            </a:r>
          </a:p>
          <a:p>
            <a:pPr lvl="1"/>
            <a:r>
              <a:rPr lang="en-ZA" dirty="0"/>
              <a:t>Government offices seeking to improve efficiency </a:t>
            </a:r>
          </a:p>
          <a:p>
            <a:pPr lvl="1"/>
            <a:r>
              <a:rPr lang="en-ZA" dirty="0"/>
              <a:t>Banks offering Home Affairs services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14D7-8460-35A7-DC46-6FC5FC67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333385"/>
            <a:ext cx="5846164" cy="2376868"/>
          </a:xfrm>
        </p:spPr>
        <p:txBody>
          <a:bodyPr/>
          <a:lstStyle/>
          <a:p>
            <a:r>
              <a:rPr lang="en-ZA" dirty="0"/>
              <a:t>opportunity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0D407-08CF-B657-CD51-1F1E18866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F7244-4925-476A-2B9E-2B6C6B5E50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56447"/>
            <a:ext cx="6078071" cy="4743115"/>
          </a:xfrm>
        </p:spPr>
        <p:txBody>
          <a:bodyPr>
            <a:normAutofit fontScale="55000" lnSpcReduction="20000"/>
          </a:bodyPr>
          <a:lstStyle/>
          <a:p>
            <a:pPr lvl="0" algn="r"/>
            <a:r>
              <a:rPr lang="en-ZA" i="1" dirty="0"/>
              <a:t>"No existing system uses ML-driven demand prediction at branch level. The DHA's e-Home Affairs portal only covers 27 branches and offers no wait-time estimates. Private apps (e.g. Queue Me) are generic, not Home Affairs-specific.“</a:t>
            </a:r>
          </a:p>
          <a:p>
            <a:pPr lvl="0" algn="r"/>
            <a:endParaRPr lang="en-ZA" dirty="0"/>
          </a:p>
          <a:p>
            <a:r>
              <a:rPr lang="en-ZA" sz="2200" dirty="0"/>
              <a:t>So therefore, there is a </a:t>
            </a:r>
            <a:r>
              <a:rPr lang="en-ZA" sz="2200" u="sng" dirty="0"/>
              <a:t>clear opportunity here </a:t>
            </a:r>
            <a:r>
              <a:rPr lang="en-ZA" sz="2200" dirty="0"/>
              <a:t>because current systems:</a:t>
            </a:r>
          </a:p>
          <a:p>
            <a:pPr lvl="1"/>
            <a:r>
              <a:rPr lang="en-ZA" sz="2200" dirty="0"/>
              <a:t>do not provide accurate, real-time wait-time predictions </a:t>
            </a:r>
          </a:p>
          <a:p>
            <a:pPr lvl="1"/>
            <a:r>
              <a:rPr lang="en-ZA" sz="2200" dirty="0"/>
              <a:t>rely on manual queueing or static booking systems </a:t>
            </a:r>
          </a:p>
          <a:p>
            <a:pPr lvl="1"/>
            <a:r>
              <a:rPr lang="en-ZA" sz="2200" dirty="0"/>
              <a:t>do not adapt to changing demand patterns </a:t>
            </a:r>
          </a:p>
          <a:p>
            <a:r>
              <a:rPr lang="en-ZA" sz="2200" dirty="0"/>
              <a:t>Advances in machine learning now allow:</a:t>
            </a:r>
          </a:p>
          <a:p>
            <a:pPr lvl="1"/>
            <a:r>
              <a:rPr lang="en-ZA" sz="2200" dirty="0"/>
              <a:t>prediction of queue lengths using historical and real-time data </a:t>
            </a:r>
          </a:p>
          <a:p>
            <a:pPr lvl="1"/>
            <a:r>
              <a:rPr lang="en-ZA" sz="2200" dirty="0"/>
              <a:t>dynamic optimisation of arrival times</a:t>
            </a:r>
          </a:p>
          <a:p>
            <a:br>
              <a:rPr lang="en-ZA" sz="2200" dirty="0"/>
            </a:br>
            <a:r>
              <a:rPr lang="en-ZA" sz="2200" dirty="0"/>
              <a:t>Why it has not been solved: </a:t>
            </a:r>
          </a:p>
          <a:p>
            <a:r>
              <a:rPr lang="en-ZA" sz="2200" dirty="0">
                <a:solidFill>
                  <a:srgbClr val="FF0000"/>
                </a:solidFill>
              </a:rPr>
              <a:t>"This gap exists because building branch-level ML predictions requires sustained data collection infrastructure and government cooperation — barriers that have prevented private developers from solving it. </a:t>
            </a:r>
            <a:r>
              <a:rPr lang="en-ZA" sz="2200" dirty="0" err="1">
                <a:solidFill>
                  <a:srgbClr val="FF0000"/>
                </a:solidFill>
              </a:rPr>
              <a:t>QueueSmart</a:t>
            </a:r>
            <a:r>
              <a:rPr lang="en-ZA" sz="2200" dirty="0">
                <a:solidFill>
                  <a:srgbClr val="FF0000"/>
                </a:solidFill>
              </a:rPr>
              <a:t> addresses this via crowdsourced data, removing the dependency on government data access."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51790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of problem and solution</a:t>
            </a:r>
            <a:r>
              <a:rPr lang="en-US" sz="32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u="sng" dirty="0"/>
              <a:t>The proposed solution is feasible because:</a:t>
            </a:r>
            <a:endParaRPr lang="en-ZA" dirty="0"/>
          </a:p>
          <a:p>
            <a:pPr lvl="1"/>
            <a:r>
              <a:rPr lang="en-ZA" dirty="0"/>
              <a:t>data can be collected through: </a:t>
            </a:r>
          </a:p>
          <a:p>
            <a:pPr lvl="3"/>
            <a:r>
              <a:rPr lang="en-ZA" dirty="0"/>
              <a:t>simulated datasets based on known peak patterns </a:t>
            </a:r>
          </a:p>
          <a:p>
            <a:pPr lvl="3"/>
            <a:r>
              <a:rPr lang="en-ZA" dirty="0"/>
              <a:t>crowdsourced user inputs (wait times, queue lengths) </a:t>
            </a:r>
          </a:p>
          <a:p>
            <a:pPr lvl="1"/>
            <a:r>
              <a:rPr lang="en-ZA" dirty="0"/>
              <a:t>machine learning models such as regression and tree-based methods are well-suited for this problem </a:t>
            </a:r>
          </a:p>
          <a:p>
            <a:pPr lvl="1"/>
            <a:r>
              <a:rPr lang="en-ZA" dirty="0"/>
              <a:t>the system can initially be deployed as a lightweight web/mobile application </a:t>
            </a:r>
          </a:p>
          <a:p>
            <a:pPr marL="457200" lvl="1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u="sng" dirty="0"/>
              <a:t>The project can be implemented incrementally:</a:t>
            </a:r>
            <a:endParaRPr lang="en-ZA" dirty="0"/>
          </a:p>
          <a:p>
            <a:pPr marL="457200" lvl="1" indent="0">
              <a:buNone/>
            </a:pPr>
            <a:r>
              <a:rPr lang="en-ZA" dirty="0"/>
              <a:t>1. build prediction model using simulated data </a:t>
            </a:r>
          </a:p>
          <a:p>
            <a:pPr marL="457200" lvl="1" indent="0">
              <a:buNone/>
            </a:pPr>
            <a:r>
              <a:rPr lang="en-ZA" dirty="0"/>
              <a:t>2. deploy simple interface </a:t>
            </a:r>
          </a:p>
          <a:p>
            <a:pPr marL="457200" lvl="1" indent="0">
              <a:buNone/>
            </a:pPr>
            <a:r>
              <a:rPr lang="en-ZA" dirty="0"/>
              <a:t>3. improve accuracy with real user data over time 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cap="none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318" y="1074568"/>
            <a:ext cx="5585012" cy="3368819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Machine learning models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F28819F3-7D3B-EB42-24FD-3C0BBC5963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-1234" t="20652" r="1234" b="18083"/>
          <a:stretch>
            <a:fillRect/>
          </a:stretch>
        </p:blipFill>
        <p:spPr>
          <a:xfrm>
            <a:off x="6355977" y="0"/>
            <a:ext cx="5836023" cy="6868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4992709" cy="3747180"/>
          </a:xfrm>
        </p:spPr>
        <p:txBody>
          <a:bodyPr/>
          <a:lstStyle/>
          <a:p>
            <a:r>
              <a:rPr lang="en-US" noProof="1"/>
              <a:t>Blah</a:t>
            </a:r>
          </a:p>
          <a:p>
            <a:r>
              <a:rPr lang="en-US" noProof="1"/>
              <a:t>Blah</a:t>
            </a:r>
          </a:p>
          <a:p>
            <a:r>
              <a:rPr lang="en-US" noProof="1"/>
              <a:t>Blah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/>
          <a:lstStyle/>
          <a:p>
            <a:r>
              <a:rPr lang="en-US" noProof="1"/>
              <a:t>Blah</a:t>
            </a:r>
          </a:p>
          <a:p>
            <a:r>
              <a:rPr lang="en-US" noProof="1"/>
              <a:t>Blah</a:t>
            </a:r>
          </a:p>
          <a:p>
            <a:r>
              <a:rPr lang="en-US" noProof="1"/>
              <a:t>Blah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/>
          <a:lstStyle/>
          <a:p>
            <a:r>
              <a:rPr lang="en-US" dirty="0"/>
              <a:t>Justify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C67C-D286-74AE-086C-3E45FF9D95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310129" cy="3747180"/>
          </a:xfrm>
        </p:spPr>
        <p:txBody>
          <a:bodyPr/>
          <a:lstStyle/>
          <a:p>
            <a:r>
              <a:rPr lang="en-US" dirty="0"/>
              <a:t>Unique</a:t>
            </a:r>
          </a:p>
          <a:p>
            <a:r>
              <a:rPr lang="en-US" dirty="0"/>
              <a:t>First to market</a:t>
            </a:r>
          </a:p>
          <a:p>
            <a:r>
              <a:rPr lang="en-US" dirty="0"/>
              <a:t>Tested</a:t>
            </a:r>
          </a:p>
          <a:p>
            <a:r>
              <a:rPr lang="en-US" dirty="0"/>
              <a:t>Authentic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02310" y="2018120"/>
            <a:ext cx="6751489" cy="3747180"/>
          </a:xfrm>
        </p:spPr>
        <p:txBody>
          <a:bodyPr/>
          <a:lstStyle/>
          <a:p>
            <a:r>
              <a:rPr lang="en-US" dirty="0"/>
              <a:t>Only product specifically dedicated to this niche market</a:t>
            </a:r>
          </a:p>
          <a:p>
            <a:r>
              <a:rPr lang="en-US" dirty="0"/>
              <a:t>First beautifully designed product that's both stylish and functional</a:t>
            </a:r>
          </a:p>
          <a:p>
            <a:r>
              <a:rPr lang="en-US" dirty="0"/>
              <a:t>Designed with the help and input of experts in the field 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(everything here is just lies (place holders))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/>
          <a:lstStyle/>
          <a:p>
            <a:r>
              <a:rPr lang="en-US" dirty="0"/>
              <a:t>Type of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8247530" cy="3914910"/>
          </a:xfrm>
        </p:spPr>
        <p:txBody>
          <a:bodyPr>
            <a:normAutofit/>
          </a:bodyPr>
          <a:lstStyle/>
          <a:p>
            <a:r>
              <a:rPr lang="en-ZA" dirty="0"/>
              <a:t>This is a </a:t>
            </a:r>
            <a:r>
              <a:rPr lang="en-ZA" u="sng" dirty="0"/>
              <a:t>Supervised Learning problem</a:t>
            </a:r>
            <a:r>
              <a:rPr lang="en-ZA" dirty="0"/>
              <a:t>, specifically:</a:t>
            </a:r>
          </a:p>
          <a:p>
            <a:pPr lvl="2"/>
            <a:r>
              <a:rPr lang="en-ZA" u="sng" dirty="0"/>
              <a:t>Regression,</a:t>
            </a:r>
            <a:r>
              <a:rPr lang="en-ZA" dirty="0"/>
              <a:t> since the target variable — waiting time in minutes — is a continuous numerical value. </a:t>
            </a:r>
          </a:p>
          <a:p>
            <a:pPr lvl="3"/>
            <a:r>
              <a:rPr lang="en-ZA" i="1" u="sng" dirty="0"/>
              <a:t>Supervised </a:t>
            </a:r>
            <a:r>
              <a:rPr lang="en-ZA" i="1" dirty="0"/>
              <a:t>learning is appropriate here because we have access to labelled training examples: each data point consists of input features (branch, time of day, day of the week, service type, etc.) paired with a known output (the actual wait time reported by a user).</a:t>
            </a:r>
            <a:endParaRPr lang="en-ZA" dirty="0"/>
          </a:p>
          <a:p>
            <a:pPr lvl="1"/>
            <a:r>
              <a:rPr lang="en-ZA" dirty="0"/>
              <a:t>The model is trained using:</a:t>
            </a:r>
          </a:p>
          <a:p>
            <a:pPr lvl="2"/>
            <a:r>
              <a:rPr lang="en-ZA" dirty="0"/>
              <a:t>input features (time, branch, service type, queue length, day of the week) </a:t>
            </a:r>
          </a:p>
          <a:p>
            <a:pPr lvl="2"/>
            <a:r>
              <a:rPr lang="en-ZA" dirty="0"/>
              <a:t>labelled outputs (actual waiting times)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D2B01-FD07-92B1-3D05-4FD5C6CDA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0019-432D-3041-C899-8AF744B80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85" y="446313"/>
            <a:ext cx="5179615" cy="1448747"/>
          </a:xfrm>
        </p:spPr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2BF8E-ED59-9FB4-71F8-71D08C846F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5181600" cy="37471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ZA" dirty="0"/>
              <a:t>The system will be deployed as a web and mobile application that provides real-time wait-time predictions for Home Affairs branches.</a:t>
            </a:r>
          </a:p>
          <a:p>
            <a:pPr marL="0" indent="0">
              <a:buNone/>
            </a:pPr>
            <a:r>
              <a:rPr lang="en-ZA" u="sng" dirty="0"/>
              <a:t>Architecture:</a:t>
            </a:r>
            <a:endParaRPr lang="en-ZA" dirty="0"/>
          </a:p>
          <a:p>
            <a:pPr lvl="1"/>
            <a:r>
              <a:rPr lang="en-ZA" dirty="0"/>
              <a:t>Frontend: user interface for viewing predictions </a:t>
            </a:r>
          </a:p>
          <a:p>
            <a:pPr lvl="1"/>
            <a:r>
              <a:rPr lang="en-ZA" dirty="0"/>
              <a:t>Backend: ML model API serving predictions </a:t>
            </a:r>
          </a:p>
          <a:p>
            <a:pPr lvl="1"/>
            <a:r>
              <a:rPr lang="en-ZA" dirty="0"/>
              <a:t>Database: stores historical and crowdsourced data </a:t>
            </a:r>
          </a:p>
          <a:p>
            <a:pPr marL="0" indent="0">
              <a:buNone/>
            </a:pPr>
            <a:r>
              <a:rPr lang="en-ZA" u="sng" dirty="0"/>
              <a:t>Rollout strategy:</a:t>
            </a:r>
            <a:endParaRPr lang="en-ZA" dirty="0"/>
          </a:p>
          <a:p>
            <a:pPr lvl="1"/>
            <a:r>
              <a:rPr lang="en-ZA" dirty="0"/>
              <a:t>Phase 1: Launch with simulated + limited user data </a:t>
            </a:r>
          </a:p>
          <a:p>
            <a:pPr lvl="1"/>
            <a:r>
              <a:rPr lang="en-ZA" dirty="0"/>
              <a:t>Phase 2: Collect crowdsourced wait-time data from users </a:t>
            </a:r>
          </a:p>
          <a:p>
            <a:pPr lvl="1"/>
            <a:r>
              <a:rPr lang="en-ZA" dirty="0"/>
              <a:t>Phase 3: Partner with the Department of Home Affairs and banks to integrate real data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8050E-0A14-DB14-6696-046AB7DFB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8" name="Picture Placeholder 17" descr="Two people looking at their phones">
            <a:extLst>
              <a:ext uri="{FF2B5EF4-FFF2-40B4-BE49-F238E27FC236}">
                <a16:creationId xmlns:a16="http://schemas.microsoft.com/office/drawing/2014/main" id="{22DC973A-6FFC-95E0-901E-88B369FAB41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81" r="81"/>
          <a:stretch/>
        </p:blipFill>
        <p:spPr>
          <a:xfrm>
            <a:off x="6076950" y="-10297"/>
            <a:ext cx="6115050" cy="6868886"/>
          </a:xfrm>
        </p:spPr>
      </p:pic>
    </p:spTree>
    <p:extLst>
      <p:ext uri="{BB962C8B-B14F-4D97-AF65-F5344CB8AC3E}">
        <p14:creationId xmlns:p14="http://schemas.microsoft.com/office/powerpoint/2010/main" val="3623110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93BDD-866D-85B3-D873-7B1C83581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E535D-5A3A-20AD-C066-26621792AF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49502" y="4526039"/>
            <a:ext cx="9368117" cy="1105900"/>
          </a:xfrm>
        </p:spPr>
        <p:txBody>
          <a:bodyPr>
            <a:normAutofit/>
          </a:bodyPr>
          <a:lstStyle/>
          <a:p>
            <a:r>
              <a:rPr lang="en-ZA" i="1" dirty="0"/>
              <a:t> The system is designed to scale from 3 pilot branches to all 412 DHA offices nationwide."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8345B-8248-4415-235E-472B55B5BD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30473" y="2161191"/>
            <a:ext cx="5544986" cy="3747180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3.  Database: MongoDB for structured visit records. </a:t>
            </a:r>
          </a:p>
          <a:p>
            <a:pPr marL="0" indent="0">
              <a:buNone/>
            </a:pPr>
            <a:r>
              <a:rPr lang="en-ZA" dirty="0"/>
              <a:t>                                                         </a:t>
            </a:r>
            <a:br>
              <a:rPr lang="en-ZA" dirty="0"/>
            </a:br>
            <a:r>
              <a:rPr lang="en-ZA" dirty="0"/>
              <a:t>4. Model hosting: AWS or Google Cloud, with the model retrained weekly as new crowdsourced data arrives."</a:t>
            </a:r>
          </a:p>
          <a:p>
            <a:pPr marL="0" indent="0">
              <a:buNone/>
            </a:pPr>
            <a:endParaRPr lang="en-US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C0B3C-5F89-34C6-7A1A-C1EC16B4D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02DACDF-4EE1-6B41-95F7-F9945D15B006}"/>
              </a:ext>
            </a:extLst>
          </p:cNvPr>
          <p:cNvSpPr txBox="1">
            <a:spLocks/>
          </p:cNvSpPr>
          <p:nvPr/>
        </p:nvSpPr>
        <p:spPr>
          <a:xfrm>
            <a:off x="1229932" y="362648"/>
            <a:ext cx="10363201" cy="1629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Tech stack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490A19-4218-9C87-6AC0-FAB0C8F1B4CD}"/>
              </a:ext>
            </a:extLst>
          </p:cNvPr>
          <p:cNvSpPr txBox="1">
            <a:spLocks/>
          </p:cNvSpPr>
          <p:nvPr/>
        </p:nvSpPr>
        <p:spPr>
          <a:xfrm>
            <a:off x="1049502" y="2161191"/>
            <a:ext cx="4992709" cy="3747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n-ZA" dirty="0"/>
              <a:t>Frontend: React Native (iOS + Android) and a React web app.</a:t>
            </a:r>
          </a:p>
          <a:p>
            <a:pPr marL="0" indent="0">
              <a:buNone/>
            </a:pPr>
            <a:r>
              <a:rPr lang="en-ZA" dirty="0"/>
              <a:t>2.  Backend: Node.js and Express.js serving the ML model as a REST endpoint. </a:t>
            </a:r>
          </a:p>
          <a:p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375679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465" y="0"/>
            <a:ext cx="5179615" cy="1448747"/>
          </a:xfrm>
        </p:spPr>
        <p:txBody>
          <a:bodyPr/>
          <a:lstStyle/>
          <a:p>
            <a:r>
              <a:rPr lang="en-US" dirty="0"/>
              <a:t>profitability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66799" y="1179567"/>
            <a:ext cx="5181600" cy="2899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dirty="0"/>
              <a:t>The product will generate revenue through:</a:t>
            </a:r>
          </a:p>
          <a:p>
            <a:pPr lvl="1"/>
            <a:r>
              <a:rPr lang="en-ZA" dirty="0"/>
              <a:t>Government contracts (licensing the system to Home Affairs) </a:t>
            </a:r>
          </a:p>
          <a:p>
            <a:pPr lvl="1"/>
            <a:r>
              <a:rPr lang="en-ZA" dirty="0"/>
              <a:t>Partnerships with banks offering Home Affairs services </a:t>
            </a:r>
          </a:p>
          <a:p>
            <a:pPr lvl="1"/>
            <a:r>
              <a:rPr lang="en-ZA" dirty="0"/>
              <a:t>Premium features: </a:t>
            </a:r>
          </a:p>
          <a:p>
            <a:pPr lvl="2"/>
            <a:r>
              <a:rPr lang="en-ZA" dirty="0"/>
              <a:t>priority booking slots </a:t>
            </a:r>
          </a:p>
          <a:p>
            <a:pPr lvl="2"/>
            <a:r>
              <a:rPr lang="en-ZA" dirty="0"/>
              <a:t>real-time alerts and notifications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1609D79A-E8EF-302E-E8CA-07C644CE0E0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-5913" t="12557" r="299" b="12557"/>
          <a:stretch>
            <a:fillRect/>
          </a:stretch>
        </p:blipFill>
        <p:spPr>
          <a:xfrm>
            <a:off x="6115052" y="-10297"/>
            <a:ext cx="6083281" cy="6876000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ACE843-D81C-B322-B9EA-B9B73BF2671E}"/>
              </a:ext>
            </a:extLst>
          </p:cNvPr>
          <p:cNvSpPr txBox="1">
            <a:spLocks/>
          </p:cNvSpPr>
          <p:nvPr/>
        </p:nvSpPr>
        <p:spPr>
          <a:xfrm>
            <a:off x="1049501" y="4299398"/>
            <a:ext cx="5027448" cy="54063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dirty="0"/>
              <a:t>The SaaS (Software-as-a-Service) model ensures recurring revenue and scalability.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EA1692-5D6D-A3F9-EBFB-AB4CACE0FC1F}"/>
              </a:ext>
            </a:extLst>
          </p:cNvPr>
          <p:cNvSpPr txBox="1"/>
          <p:nvPr/>
        </p:nvSpPr>
        <p:spPr>
          <a:xfrm>
            <a:off x="342275" y="4929171"/>
            <a:ext cx="6100996" cy="1350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i="1" dirty="0"/>
              <a:t>"If 10 banks license the platform at R50,000/year = R500,000 ARR. A single government contract could add R1–2M. Premium subscriptions at R29/month with 5,000 users = R1.74M/year. Combined, this exceeds operational costs for a small team."</a:t>
            </a:r>
            <a:endParaRPr lang="en-Z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711" y="1409075"/>
            <a:ext cx="6215410" cy="4122295"/>
          </a:xfrm>
        </p:spPr>
        <p:txBody>
          <a:bodyPr>
            <a:normAutofit/>
          </a:bodyPr>
          <a:lstStyle/>
          <a:p>
            <a:r>
              <a:rPr lang="en-ZA" dirty="0" err="1"/>
              <a:t>QueueSmart</a:t>
            </a:r>
            <a:r>
              <a:rPr lang="en-ZA" dirty="0"/>
              <a:t> HA transforms a frustrating, time-wasting process into an efficient, data-driven experience.</a:t>
            </a:r>
          </a:p>
          <a:p>
            <a:endParaRPr lang="en-ZA" dirty="0"/>
          </a:p>
          <a:p>
            <a:r>
              <a:rPr lang="en-ZA" dirty="0"/>
              <a:t>By leveraging machine learning, we can:</a:t>
            </a:r>
          </a:p>
          <a:p>
            <a:pPr lvl="1"/>
            <a:r>
              <a:rPr lang="en-ZA" dirty="0"/>
              <a:t>reduce waiting times </a:t>
            </a:r>
          </a:p>
          <a:p>
            <a:pPr lvl="1"/>
            <a:r>
              <a:rPr lang="en-ZA" dirty="0"/>
              <a:t>improve public service efficiency </a:t>
            </a:r>
          </a:p>
          <a:p>
            <a:pPr lvl="1"/>
            <a:r>
              <a:rPr lang="en-ZA" dirty="0"/>
              <a:t>enhance citizen satisfaction </a:t>
            </a:r>
          </a:p>
          <a:p>
            <a:pPr lvl="1"/>
            <a:endParaRPr lang="en-ZA" dirty="0"/>
          </a:p>
          <a:p>
            <a:r>
              <a:rPr lang="en-ZA" b="1" dirty="0"/>
              <a:t>We are not just predicting queues — we are redefining how citizens interact with essential services.</a:t>
            </a:r>
            <a:endParaRPr lang="en-ZA" dirty="0"/>
          </a:p>
          <a:p>
            <a:br>
              <a:rPr lang="en-US" dirty="0"/>
            </a:br>
            <a:r>
              <a:rPr lang="en-US" dirty="0"/>
              <a:t>- </a:t>
            </a:r>
            <a:r>
              <a:rPr lang="en-ZA" dirty="0"/>
              <a:t>"South Africa has been waiting for this. We have the model, the plan, and the team to deliver it."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33F63F-9110-40E7-9727-485934F415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B53FD5-8F3E-4406-8404-9F78B5E6376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68EFD9E-464D-4A64-8503-21EC02601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1076</Words>
  <Application>Microsoft Office PowerPoint</Application>
  <PresentationFormat>Widescreen</PresentationFormat>
  <Paragraphs>127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Lucida Bright</vt:lpstr>
      <vt:lpstr>Tenorite</vt:lpstr>
      <vt:lpstr>Custom</vt:lpstr>
      <vt:lpstr>Queuesmart ha </vt:lpstr>
      <vt:lpstr>PowerPoint Presentation</vt:lpstr>
      <vt:lpstr>PowerPoint Presentation</vt:lpstr>
      <vt:lpstr>Product benefits</vt:lpstr>
      <vt:lpstr>opportunity</vt:lpstr>
      <vt:lpstr>Feasibility of problem and solution </vt:lpstr>
      <vt:lpstr>Machine learning models</vt:lpstr>
      <vt:lpstr>models</vt:lpstr>
      <vt:lpstr>Justify model </vt:lpstr>
      <vt:lpstr>Type of ml</vt:lpstr>
      <vt:lpstr>deployment</vt:lpstr>
      <vt:lpstr>PowerPoint Presentation</vt:lpstr>
      <vt:lpstr>profitability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Tshepo Mngomezulu</cp:lastModifiedBy>
  <cp:revision>47</cp:revision>
  <dcterms:created xsi:type="dcterms:W3CDTF">2026-03-26T00:33:04Z</dcterms:created>
  <dcterms:modified xsi:type="dcterms:W3CDTF">2026-03-26T03:40:17Z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