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22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1A3A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3A6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T+1hr</c:v>
                </c:pt>
                <c:pt idx="1">
                  <c:v>T+6hr</c:v>
                </c:pt>
                <c:pt idx="2">
                  <c:v>T+12hr</c:v>
                </c:pt>
                <c:pt idx="3">
                  <c:v>T+24hr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0.87</c:v>
                </c:pt>
                <c:pt idx="1">
                  <c:v>0.79</c:v>
                </c:pt>
                <c:pt idx="2">
                  <c:v>0.72</c:v>
                </c:pt>
                <c:pt idx="3">
                  <c:v>0.63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AD-4393-800C-43C1958FCE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7489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5943600" y="731520"/>
            <a:ext cx="2743200" cy="2743200"/>
          </a:xfrm>
          <a:prstGeom prst="ellipse">
            <a:avLst/>
          </a:prstGeom>
          <a:solidFill>
            <a:srgbClr val="122040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 rot="900000">
            <a:off x="7040880" y="1188720"/>
            <a:ext cx="32004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 rot="900000">
            <a:off x="7178040" y="1874520"/>
            <a:ext cx="32004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GridSense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South Africa's Power Cuts Before They Hit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8229600" cy="1371600"/>
          </a:xfrm>
          <a:prstGeom prst="rect">
            <a:avLst/>
          </a:prstGeom>
          <a:solidFill>
            <a:srgbClr val="122040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731520" y="3703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Bohlale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Mabonga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BASHSEASONNN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4800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COMS3007A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822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5,000+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load shedding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2023 alone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82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3383280" y="1325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R1.2B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83280" y="21031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economic loss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South African businesses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651760" cy="822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6309360" y="1325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09360" y="21031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advance warning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available to citizens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3375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Africa's load shedding crisis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leaves 60 million people without reliable electricity — unpredictably. Hospitals miss surgeries, factories halt production, and small businesses haemorrhage revenue. Eskom's own schedules change without notice. Citizens are left in the dark — literally and informationally.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365760" y="4736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benefits?   Households · Hospitals · SMEs · Manufacturers · Schools · Telecom Infrastructure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Opportunity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26187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are schedule-scrapers, not predictors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6459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apps like EskomSePush only relay Eskom's announced schedule. They cannot predict unannounced or emergency cuts, which account for &gt;30% of outages.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34440" y="249631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wealth of untapped public data exists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88036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Eskom publishes historical stage logs, grid capacity reports, and weather data — all freely available. No product has yet combined these into a predictive ML model.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50292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373075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massive and underserved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1148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Africa's backup-power market is worth R12B+. Companies spend billions on generators/UPS, yet zero spend on prediction-based preparedness tools.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GridSense AI is a load-shedding prediction engine that forecasts the stage, timing, and duration of power cuts up to 24 hours in advance — using machine learning trained on historical Eskom data, grid telemetry, and weather patterns.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74320" y="2286000"/>
            <a:ext cx="155448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274320" y="22860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Eskom Logs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93392" y="2286000"/>
            <a:ext cx="155448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1993392" y="22860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Capacity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Telemetry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12464" y="2286000"/>
            <a:ext cx="155448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3712464" y="22860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31536" y="2286000"/>
            <a:ext cx="1554480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5431536" y="22860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ML Model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(LSTM + XGBoost)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50608" y="2286000"/>
            <a:ext cx="1554480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7150608" y="22860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Prediction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App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3383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Data Inputs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</a:rPr>
              <a:t>ML Core + Output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8412480" cy="1097280"/>
          </a:xfrm>
          <a:prstGeom prst="rect">
            <a:avLst/>
          </a:prstGeom>
          <a:solidFill>
            <a:srgbClr val="122040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640080" y="388620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of ML: </a:t>
            </a:r>
            <a:r>
              <a:rPr lang="en-US" sz="125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(Time-Series Regression + Classification). We predict both the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shedding stage (0–8)</a:t>
            </a:r>
            <a:r>
              <a:rPr lang="en-US" sz="125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occurrence</a:t>
            </a:r>
            <a:r>
              <a:rPr lang="en-US" sz="125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each 30-minute window in the next 24 hours.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Collection &amp; Labelling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3A6B"/>
                </a:solidFill>
              </a:rPr>
              <a:t>DATA SOURCES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Eskom's public stage history API &amp; PDF reports (free)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130552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502920" y="21762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🌤️  Open-Meteo / SAWS weather API — temperature, humidity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752344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502920" y="279806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Eskom Data Portal — supply/demand gap (public)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374136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502920" y="34198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Public holidays &amp; day-of-week features (scraped)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995928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502920" y="40416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Industrial shutdown schedules (via public NERSA filings)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097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3A6B"/>
                </a:solidFill>
              </a:rPr>
              <a:t>LABELS &amp; COST STRATEGY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50876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4663440" y="1508760"/>
            <a:ext cx="64008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4800600" y="15727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are naturally available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19202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historical 30-min window already has a verified stage (0–8) from Eskom's logs. No manual annotation needed.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670048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4663440" y="2670048"/>
            <a:ext cx="64008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4800600" y="27340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ingestion pipeline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308152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Python scraper runs daily, pulling new stage data and weather readings automatically at zero marginal cost.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831336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4663440" y="3831336"/>
            <a:ext cx="64008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4800600" y="38953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dataset size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424281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years of 30-min intervals = ~52,000 labelled samples — sufficient for robust model training from day one.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Preprocessing &amp; Feature Engineering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88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8892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2606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Challenges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6002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Eskom PDFs require parsing (pdfplumber) — table structure varies across years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23774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during scheduled maintenance windows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315468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Timezone mismatches between weather &amp; grid APIs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393192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numbers changed definition in 2022 (Stage 6+ introduced)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18688" y="1097280"/>
            <a:ext cx="2788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3218688" y="1097280"/>
            <a:ext cx="27889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3310128" y="1115568"/>
            <a:ext cx="2606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28416" y="16002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all data to uniform 30-min intervals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28416" y="23774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short gaps (&lt;2 hours) with forward-fill; flag longer gaps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28416" y="315468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 categorical features (day of week, month, public holiday)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28416" y="393192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continuous features (demand, temperature) with MinMaxScaler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63056" y="1097280"/>
            <a:ext cx="2788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6163056" y="1097280"/>
            <a:ext cx="278892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6254496" y="1115568"/>
            <a:ext cx="2606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72784" y="16002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7-day, 30-day average stage and demand features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72784" y="23774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features: t-1, t-2, t-48 intervals (same time yesterday/week)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72784" y="315468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Fourier-transform seasonality features (weekly &amp; annual cycles)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72784" y="393192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'post-maintenance' flag after Eskom maintenance events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Methodology &amp; Algorithm Justification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143000"/>
          </a:xfrm>
          <a:prstGeom prst="rect">
            <a:avLst/>
          </a:prstGeom>
          <a:solidFill>
            <a:srgbClr val="12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2296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011680" cy="11430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LSTM (Primary)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Short-Term Memory RNN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06040" y="13258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</a:t>
            </a:r>
            <a:r>
              <a:rPr lang="en-US" sz="115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shedding is fundamentally a temporal sequence problem. LSTMs capture long-range dependencies in time-series — e.g., a week of Stage 4 predicts a Stage 6 crisis better than any single snapshot.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8412480" cy="1143000"/>
          </a:xfrm>
          <a:prstGeom prst="rect">
            <a:avLst/>
          </a:prstGeom>
          <a:solidFill>
            <a:srgbClr val="12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82296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2011680" cy="11430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502920" y="2560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XGBoost (Ensemble)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Boosted Trees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26060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</a:t>
            </a:r>
            <a:r>
              <a:rPr lang="en-US" sz="115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Excels at tabular feature prediction (demand gap, temperature, day-of-week). Used alongside LSTM in a stacking ensemble to capture non-temporal relationships the RNN misses.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8412480" cy="1143000"/>
          </a:xfrm>
          <a:prstGeom prst="rect">
            <a:avLst/>
          </a:prstGeom>
          <a:solidFill>
            <a:srgbClr val="12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365760" y="3703320"/>
            <a:ext cx="82296" cy="11430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2011680" cy="11430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50292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Stacking Ensemble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Meta-Learner (Logistic Regression)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06040" y="3886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</a:t>
            </a:r>
            <a:r>
              <a:rPr lang="en-US" sz="115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meta-model combines LSTM and XGBoost predictions, weighted by their historical accuracy. This reduces variance and produces better-calibrated probability estimates.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548640" y="4690872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Overfitting risk: LSTM regularised with dropout (0.3) &amp; early stopping. 52K samples split 70/15/15 train/val/test. Underfitting risk is low given feature richness.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Evaluation Strategy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3A6B"/>
                </a:solidFill>
              </a:rPr>
              <a:t>PERFORMANCE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F1-Score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class imbalance (Stage 0 is most common)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697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regression of stage number (continuous output)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15468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502920" y="3200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(Brier Score)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3520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probability estimates are reliable, not just accurate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97764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502920" y="4023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Time-shifted accuracy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343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at T+1hr, T+6hr, T+12hr, T+24hr windows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09160" y="10972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3A6B"/>
                </a:solidFill>
              </a:rPr>
              <a:t>EXPECTED ACCURACY BY HORIZON</a:t>
            </a:r>
            <a:endParaRPr lang="en-US" sz="11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4572000" y="1463040"/>
          <a:ext cx="42976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7"/>
          <p:cNvSpPr/>
          <p:nvPr/>
        </p:nvSpPr>
        <p:spPr>
          <a:xfrm>
            <a:off x="365760" y="4754880"/>
            <a:ext cx="8412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comparison: Random classifier F1 ≈ 0.12 · Persistence model (predict same as last reading) F1 ≈ 0.41. Our target: F1 &gt; 0.80 at T+6hr.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Deployment Strategy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56032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2377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88720" y="1737360"/>
            <a:ext cx="914400" cy="914400"/>
          </a:xfrm>
          <a:prstGeom prst="ellipse">
            <a:avLst/>
          </a:prstGeom>
          <a:solidFill>
            <a:srgbClr val="E5E9F0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118872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API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on AWS. WhatsApp chatbot integration via Twilio for early adopters. Free tier.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56032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3291840" y="1115568"/>
            <a:ext cx="2377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4–9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23360" y="1737360"/>
            <a:ext cx="914400" cy="914400"/>
          </a:xfrm>
          <a:prstGeom prst="ellipse">
            <a:avLst/>
          </a:prstGeom>
          <a:solidFill>
            <a:srgbClr val="E5E9F0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402336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App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78892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iOS/Android app. Push alerts, area-based profiles, smart plug integration.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097280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6035040" y="1097280"/>
            <a:ext cx="256032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6126480" y="1115568"/>
            <a:ext cx="2377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10–18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0" y="1737360"/>
            <a:ext cx="914400" cy="914400"/>
          </a:xfrm>
          <a:prstGeom prst="ellipse">
            <a:avLst/>
          </a:prstGeom>
          <a:solidFill>
            <a:srgbClr val="E5E9F0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685800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Dashboard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72200" y="278892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web dashboard for factories and hospitals. SLA-backed uptime guarantees.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480560"/>
            <a:ext cx="9144000" cy="66751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457200" y="45445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Partnerships: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Eskom (data MOU) · AWS (Activate startup credits) · Twilio (WhatsApp API) · Vodacom / MTN (zero-rating alerts for low-income users)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 &amp; Profitability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274320" y="11704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🆓→💳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Consumer App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R49/month Pro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7432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Free: 6hr forecast + basic alerts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24hr, smart plug auto-shutoff, UPS scheduling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109728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3172968" y="109728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3172968" y="11704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🏢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64408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Enterprise SaaS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64408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R2,500–R15,000/month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27432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API access for factories, hospitals, municipalities. Volume pricing.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71616" y="109728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6071616" y="109728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6071616" y="11704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163056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API Licensing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 pricing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08776" y="27432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API sold to generator suppliers, insurance companies, and smart-home platforms.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480560"/>
            <a:ext cx="9144000" cy="66751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457200" y="45445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Target: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Pro subscribers + 50 enterprise clients → </a:t>
            </a: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R13.5M ARR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Break-even projected at Month 14.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Ethics, Safeguards &amp; Responsible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1234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data collection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6002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only anonymised, aggregated grid-level data. No personal energy usage is collected. POPIA-compliant by design.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484632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40680" y="1234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algorithmic harm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0680" y="16002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 probabilistic — we clearly communicate uncertainty intervals to prevent users making unsafe decisions based on a false sense of certainty.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404872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365760" y="2496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24963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Equitable access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86207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with mobile carriers to zero-rate critical alert notifications, ensuring low-income communities in rural areas benefit equally.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404872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4846320" y="2496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40680" y="24963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transparency &amp; auditability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0680" y="286207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(SHapley Additive exPlanations) used to explain predictions. Independent audits scheduled every 6 months with results published publicly.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666744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365760" y="3758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60120" y="37581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Misuse prevention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12394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rate limits and abuse detection prevent adversarial use (e.g., criminals scheduling burglaries around predicted outages).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666744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4846320" y="3758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40680" y="37581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data sourcing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412394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training data sourced from public Eskom releases under open-data principles. No proprietary or non-consensual data used.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'South Africa does not need to accept the dark.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needs better intelligence.'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423160" cy="1920240"/>
          </a:xfrm>
          <a:prstGeom prst="rect">
            <a:avLst/>
          </a:prstGeom>
          <a:solidFill>
            <a:srgbClr val="12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4231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731520" y="248716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52K+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training samples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on day one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2377440"/>
            <a:ext cx="2423160" cy="1920240"/>
          </a:xfrm>
          <a:prstGeom prst="rect">
            <a:avLst/>
          </a:prstGeom>
          <a:solidFill>
            <a:srgbClr val="12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3337560" y="2377440"/>
            <a:ext cx="24231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3429000" y="248716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R1.2B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29000" y="33375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economic pain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 addresses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2377440"/>
            <a:ext cx="2423160" cy="1920240"/>
          </a:xfrm>
          <a:prstGeom prst="rect">
            <a:avLst/>
          </a:prstGeom>
          <a:solidFill>
            <a:srgbClr val="12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6035040" y="2377440"/>
            <a:ext cx="24231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6126480" y="248716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60M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126480" y="33375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Africans who need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solution right now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GridSense AI — Let's illuminate what's coming.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1249</Words>
  <Application>Microsoft Office PowerPoint</Application>
  <PresentationFormat>On-screen Show (16:9)</PresentationFormat>
  <Paragraphs>167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GridSense AI - Pitch Deck</dc:title>
  <dc:subject>PptxGenJS Presentation</dc:subject>
  <dc:creator>PptxGenJS</dc:creator>
  <cp:lastModifiedBy>Computer ScienceStudent</cp:lastModifiedBy>
  <cp:revision>2</cp:revision>
  <dcterms:created xsi:type="dcterms:W3CDTF">2026-03-24T22:24:48Z</dcterms:created>
  <dcterms:modified xsi:type="dcterms:W3CDTF">2026-03-24T22:29:19Z</dcterms:modified>
</cp:coreProperties>
</file>